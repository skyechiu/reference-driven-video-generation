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914400"/>
            <a:ext cx="457200" cy="4572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2194560"/>
            <a:ext cx="256032" cy="256032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120640"/>
            <a:ext cx="329184" cy="329184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5486400"/>
            <a:ext cx="548640" cy="54864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852160"/>
            <a:ext cx="274320" cy="27432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AI FOR MEDIA  ·  NCCA, BOURNEMOUTH UNIVERSITY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Agentic Workflow for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Reference-Guided, Character-Consistent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Short-Form Video Generation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7040880" cy="566928"/>
          </a:xfrm>
          <a:prstGeom prst="roundRect">
            <a:avLst>
              <a:gd name="adj" fmla="val 50000"/>
            </a:avLst>
          </a:prstGeom>
          <a:solidFill>
            <a:srgbClr val="1A2046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Reference-guided  ·  decision-traceable  ·  controllable generation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Skye Chiu  · 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Creative Context &amp; Research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two equal projects — a single line: creative practice → problem identification → technical research system.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74920" cy="3657600"/>
          </a:xfrm>
          <a:prstGeom prst="roundRect">
            <a:avLst>
              <a:gd name="adj" fmla="val 225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06040"/>
            <a:ext cx="868680" cy="868680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857" y="283189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Light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24028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Practice-led creative context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8720" y="374904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original IP character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visual identity &amp; mood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AI-video production pain points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case study / testbed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0" y="3803904"/>
            <a:ext cx="621792" cy="621792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749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263640" y="2286000"/>
            <a:ext cx="5074920" cy="3657600"/>
          </a:xfrm>
          <a:prstGeom prst="roundRect">
            <a:avLst>
              <a:gd name="adj" fmla="val 2250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606040"/>
            <a:ext cx="868680" cy="868680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537" y="2831897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Agentic Workflow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7680960" y="3090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research contribution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374904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intermediate representation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Reference-guided controllable generation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Character-consistency evaluation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Decision-traceable repair loop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provides the creative context; the agentic workflow is the dissertation's research contribution.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Problem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185416"/>
            <a:ext cx="777240" cy="77724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650" y="2387498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671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Controllability is an open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57400" y="2788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video models produce striking clips but remain hard to direct precisely across multiple shots.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85416"/>
            <a:ext cx="777240" cy="77724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50" y="2387498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671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Identity drift limits real use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43800" y="2788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narrative or character-led content, a subject that changes between shots breaks the work — a key barrier to adoption.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06908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15568" y="4379976"/>
            <a:ext cx="777240" cy="77724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50" y="4582058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3616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 knowledge is underused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57400" y="4983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rhythm and framing in existing footage encode reusable craft, but current tools cannot transfer this structure in a controlled way.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4379976"/>
            <a:ext cx="777240" cy="777240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050" y="4582058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3616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 is opaque and manual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43800" y="4983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workflows rely on repeated manual inspection and re-prompting, with little record of why a shot failed or how it was fixed.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Prompt Lottery to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video is powerful at producing isolated clips, but weak at structured creative control across shots.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231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945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behaves like a lottery: prompt in, random clip out, re-prompt on failure.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5468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926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identity drifts between generated shots.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365760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8620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6576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rhythm and framing are hard to transfer from reference material.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22960" y="438912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61772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389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intermediate representation to inspect, modify or repair the process.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22960" y="5120640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0E123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34924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5120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transparency in why a shot fails and how it is repaired.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Existing Work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24761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Identity adapters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InstantID, IP-Adapter, PhotoMaker keep a face consistent — but per-image, with no shot structure or repair.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97280" y="4645152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DEBC8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6451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Single-image identity only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26280" y="201168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2860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795" y="24761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Pose / motion transfer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0060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ControlNet, MagicPose drive a character with a target pose — but identity and pose conflict, and there is no evaluation loop.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00600" y="4645152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DEBC8"/>
          </a:solidFill>
          <a:ln/>
        </p:spPr>
      </p:sp>
      <p:sp>
        <p:nvSpPr>
          <p:cNvPr id="17" name="Text 13"/>
          <p:cNvSpPr/>
          <p:nvPr/>
        </p:nvSpPr>
        <p:spPr>
          <a:xfrm>
            <a:off x="4800600" y="46451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quality feedback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29600" y="201168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03920" y="22860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15" y="247619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Multi-shot video systems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039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Story/video agents generate sequences — but as black boxes, with no inspectable intermediate representation.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503920" y="4645152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DEBC8"/>
          </a:solidFill>
          <a:ln/>
        </p:spPr>
      </p:sp>
      <p:sp>
        <p:nvSpPr>
          <p:cNvPr id="24" name="Text 19"/>
          <p:cNvSpPr/>
          <p:nvPr/>
        </p:nvSpPr>
        <p:spPr>
          <a:xfrm>
            <a:off x="8503920" y="46451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decision transparency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22960" y="5440680"/>
            <a:ext cx="10561320" cy="713232"/>
          </a:xfrm>
          <a:prstGeom prst="roundRect">
            <a:avLst>
              <a:gd name="adj" fmla="val 12821"/>
            </a:avLst>
          </a:prstGeom>
          <a:solidFill>
            <a:srgbClr val="0E1230"/>
          </a:solidFill>
          <a:ln/>
        </p:spPr>
      </p:sp>
      <p:sp>
        <p:nvSpPr>
          <p:cNvPr id="26" name="Text 21"/>
          <p:cNvSpPr/>
          <p:nvPr/>
        </p:nvSpPr>
        <p:spPr>
          <a:xfrm>
            <a:off x="1051560" y="54406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 </a:t>
            </a:r>
            <a:pPr indent="0" marL="0">
              <a:buNone/>
            </a:pPr>
            <a:r>
              <a:rPr lang="en-US" sz="125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existing workflows explicitly combine reference-guided structure transfer, character-consistent generation, and a decision-traceable evaluation–repair loop in one system.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22960" y="626364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customisation: InstantID, IP-Adapter, PhotoMaker.   Spatial conditioning / pose control: ControlNet.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Extract Structure, Regenerate Content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74920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32888"/>
            <a:ext cx="731520" cy="731520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195" y="272308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606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Analyse authorised reference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3291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reusable formal structure: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370332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timing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/ motion pattern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61888" y="3474720"/>
            <a:ext cx="731520" cy="7315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61888" y="34198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6766560" y="2240280"/>
            <a:ext cx="4572000" cy="3200400"/>
          </a:xfrm>
          <a:prstGeom prst="roundRect">
            <a:avLst>
              <a:gd name="adj" fmla="val 2571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86600" y="2532888"/>
            <a:ext cx="731520" cy="731520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795" y="2723083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5528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 new generation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132320" y="3291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9:16 vertical video using: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223760" y="37033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original IP character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scene / style prompt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royalty-free or original audio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moves video generation from one-step prompt trial-and-error towards a controllable, inspectable workflow — guided by structure, not a copy of the reference.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914400" cy="914400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408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1031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can an </a:t>
            </a:r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agentic workflow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use authorised reference videos to generate </a:t>
            </a:r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character-consistent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short-form videos — controllably and transparently?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22960" y="3840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A2046"/>
          </a:solidFill>
          <a:ln w="12700">
            <a:solidFill>
              <a:srgbClr val="2C356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4114800"/>
            <a:ext cx="658368" cy="658368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56" y="4285976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4224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RQ1 · Structure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reusable motion, rhythm and framing be extracted into a structured representation?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26280" y="3840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A2046"/>
          </a:solidFill>
          <a:ln w="12700">
            <a:solidFill>
              <a:srgbClr val="2C356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00600" y="4114800"/>
            <a:ext cx="658368" cy="658368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76" y="4285976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77840" y="4224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RQ2 · Consistency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80060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IP character stay consistent across multiple generated shots?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229600" y="3840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A2046"/>
          </a:solidFill>
          <a:ln w="12700">
            <a:solidFill>
              <a:srgbClr val="2C356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503920" y="4114800"/>
            <a:ext cx="658368" cy="658368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096" y="4285976"/>
            <a:ext cx="316017" cy="3160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81160" y="4224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RQ3 · Repair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50392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failures be automatically detected, diagnosed and repaired?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MVP &amp; Research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full pipeline — the first working version is deliberately constrained to reduce risk.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80160"/>
          </a:xfrm>
          <a:prstGeom prst="roundRect">
            <a:avLst>
              <a:gd name="adj" fmla="val 6429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25980" y="235000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420" y="253544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Single character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337560" cy="1280160"/>
          </a:xfrm>
          <a:prstGeom prst="roundRect">
            <a:avLst>
              <a:gd name="adj" fmla="val 6429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235000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300" y="253544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5–8 seconds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46720" y="2148840"/>
            <a:ext cx="3337560" cy="1280160"/>
          </a:xfrm>
          <a:prstGeom prst="roundRect">
            <a:avLst>
              <a:gd name="adj" fmla="val 6429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349740" y="235000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180" y="253544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9:16 vertical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22960" y="3666744"/>
            <a:ext cx="3337560" cy="1280160"/>
          </a:xfrm>
          <a:prstGeom prst="roundRect">
            <a:avLst>
              <a:gd name="adj" fmla="val 6429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125980" y="3867912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20" y="4053352"/>
            <a:ext cx="342351" cy="34235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453542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dialogue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434840" y="3666744"/>
            <a:ext cx="3337560" cy="1280160"/>
          </a:xfrm>
          <a:prstGeom prst="roundRect">
            <a:avLst>
              <a:gd name="adj" fmla="val 6429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737860" y="3867912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300" y="4053352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17720" y="453542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3–5 shots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8046720" y="3666744"/>
            <a:ext cx="3337560" cy="1280160"/>
          </a:xfrm>
          <a:prstGeom prst="roundRect">
            <a:avLst>
              <a:gd name="adj" fmla="val 6429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349740" y="3867912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5180" y="4053352"/>
            <a:ext cx="342351" cy="34235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29600" y="453542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Clear, simple motion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868680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inputs: 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authorised, royalty-free or self-created reference videos only.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22960" y="562356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0E1230"/>
          </a:solidFill>
          <a:ln/>
        </p:spPr>
      </p:sp>
      <p:sp>
        <p:nvSpPr>
          <p:cNvPr id="31" name="Text 23"/>
          <p:cNvSpPr/>
          <p:nvPr/>
        </p:nvSpPr>
        <p:spPr>
          <a:xfrm>
            <a:off x="1051560" y="5623560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boundary:  </a:t>
            </a:r>
            <a:pPr indent="0" marL="0">
              <a:buNone/>
            </a:pPr>
            <a:r>
              <a:rPr lang="en-US" sz="125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 not aim to reproduce viral videos or predict popularity. It studies controllable structure transfer and character-consistent generation.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Four-Stage Agentic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46120" y="1828800"/>
            <a:ext cx="5760720" cy="32918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82880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Video  +  IP Character  +  New Prompt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2176272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46120" y="2432304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10712" y="2532888"/>
            <a:ext cx="365760" cy="3657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Text 6"/>
          <p:cNvSpPr/>
          <p:nvPr/>
        </p:nvSpPr>
        <p:spPr>
          <a:xfrm>
            <a:off x="341071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59352" y="24323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 Analysis Agent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99923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6120" y="3218688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FFF6D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10712" y="3319272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0"/>
          <p:cNvSpPr/>
          <p:nvPr/>
        </p:nvSpPr>
        <p:spPr>
          <a:xfrm>
            <a:off x="341071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959352" y="32186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Structured Storyboard JSON  (intermediate representation)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3785616"/>
            <a:ext cx="219456" cy="2194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246120" y="4005072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0E1230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410712" y="4105656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4"/>
          <p:cNvSpPr/>
          <p:nvPr/>
        </p:nvSpPr>
        <p:spPr>
          <a:xfrm>
            <a:off x="3410712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959352" y="40050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IP-Conditioned Generation Agent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38160" y="4160520"/>
            <a:ext cx="713232" cy="256032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4572000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246120" y="4791456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0E1230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10712" y="489204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19"/>
          <p:cNvSpPr/>
          <p:nvPr/>
        </p:nvSpPr>
        <p:spPr>
          <a:xfrm>
            <a:off x="3410712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959352" y="47914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&amp; Repair Agent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138160" y="4946904"/>
            <a:ext cx="713232" cy="256032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5340096"/>
            <a:ext cx="219456" cy="21945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246120" y="5577840"/>
            <a:ext cx="5760720" cy="384048"/>
          </a:xfrm>
          <a:prstGeom prst="roundRect">
            <a:avLst>
              <a:gd name="adj" fmla="val 50000"/>
            </a:avLst>
          </a:prstGeom>
          <a:solidFill>
            <a:srgbClr val="0E123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246120" y="55778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Character-Consistent Short-Form Video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006840" y="5074920"/>
            <a:ext cx="457200" cy="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9464040" y="4288536"/>
            <a:ext cx="0" cy="786384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9006840" y="4288536"/>
            <a:ext cx="457200" cy="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34" name="Text 27"/>
          <p:cNvSpPr/>
          <p:nvPr/>
        </p:nvSpPr>
        <p:spPr>
          <a:xfrm>
            <a:off x="9573768" y="4407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</a:t>
            </a:r>
            <a:endParaRPr lang="en-US" sz="1050" dirty="0"/>
          </a:p>
          <a:p>
            <a:pPr indent="0" marL="0">
              <a:buNone/>
            </a:pPr>
            <a:r>
              <a:rPr lang="en-US" sz="105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shots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storyboard JSON is the system's intermediate representation; the feedback loop is what makes it agentic.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Core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07492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59152"/>
            <a:ext cx="694944" cy="694944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965" y="2539837"/>
            <a:ext cx="333573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04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 Reference Analysis Agent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65960" y="2688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TOOL-BASED VIDEO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" y="3054096"/>
            <a:ext cx="4471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shot cuts, beat timing, pose/motion and framing using established tools (PySceneDetect, librosa, MediaPipe).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103120"/>
            <a:ext cx="507492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359152"/>
            <a:ext cx="694944" cy="694944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365" y="2539837"/>
            <a:ext cx="333573" cy="3335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304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 Template Builder Agent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52360" y="2688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INTERMEDIATE REPRESENTATION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620256" y="3054096"/>
            <a:ext cx="4471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Synchronises shot cuts, pose timestamps and beats into a beat-aligned storyboard JSON — the system's executable representation.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169664"/>
            <a:ext cx="5074920" cy="1810512"/>
          </a:xfrm>
          <a:prstGeom prst="roundRect">
            <a:avLst>
              <a:gd name="adj" fmla="val 4545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97280" y="4425696"/>
            <a:ext cx="694944" cy="694944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965" y="4606381"/>
            <a:ext cx="333573" cy="3335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 IP-Conditioned Generation Agent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965960" y="4754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CHARACTER GENERATION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" y="5120640"/>
            <a:ext cx="4471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each shot from the IP character + pose control + scene prompt, following the extracted structure.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4169664"/>
            <a:ext cx="5074920" cy="1810512"/>
          </a:xfrm>
          <a:prstGeom prst="roundRect">
            <a:avLst>
              <a:gd name="adj" fmla="val 4545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425696"/>
            <a:ext cx="694944" cy="694944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365" y="4606381"/>
            <a:ext cx="333573" cy="3335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 Evaluation &amp; Repair Agent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52360" y="4754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DECISION-TRACEABLE REPAIR LOOP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620256" y="5120640"/>
            <a:ext cx="4471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identity, motion, framing and beat alignment; logs failed metrics, diagnosis and repair action, then regenerates only the failed shot.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22960" y="6108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compute; agents decide. The main engineering focus is the generation–evaluation–repair loop.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Measurable &amp; Traceable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704088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85416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1168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IP identity consistency score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480560" y="20116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likeness vs reference (face embedding distance)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2587752"/>
            <a:ext cx="704088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614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8775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Pose-sequence similarity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480560" y="25877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distance vs the reference motion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163824"/>
            <a:ext cx="704088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375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638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Beat alignment error (ms)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480560" y="316382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cut / transition to musical beats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3739896"/>
            <a:ext cx="704088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91363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73989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Framing accuracy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480560" y="373989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composition / subject-placement compliance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22960" y="4315968"/>
            <a:ext cx="7040880" cy="530352"/>
          </a:xfrm>
          <a:prstGeom prst="roundRect">
            <a:avLst>
              <a:gd name="adj" fmla="val 10345"/>
            </a:avLst>
          </a:prstGeom>
          <a:solidFill>
            <a:srgbClr val="F4F6F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489704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31596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Regeneration success rate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480560" y="431596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repair loop fixes a failed shot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22960" y="4892040"/>
            <a:ext cx="7040880" cy="530352"/>
          </a:xfrm>
          <a:prstGeom prst="roundRect">
            <a:avLst>
              <a:gd name="adj" fmla="val 10345"/>
            </a:avLst>
          </a:prstGeom>
          <a:solidFill>
            <a:srgbClr val="0E123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065776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8920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Decision-log completeness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4480560" y="48920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score → diagnosis → repair action → result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822960" y="5468112"/>
            <a:ext cx="7040880" cy="530352"/>
          </a:xfrm>
          <a:prstGeom prst="roundRect">
            <a:avLst>
              <a:gd name="adj" fmla="val 10345"/>
            </a:avLst>
          </a:prstGeom>
          <a:solidFill>
            <a:srgbClr val="0E123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5641848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71600" y="546811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Number of manual interventions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4480560" y="54681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on vs off — the core ablation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8183880" y="201168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8458200" y="2286000"/>
            <a:ext cx="777240" cy="777240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0282" y="2488082"/>
            <a:ext cx="373075" cy="37307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458200" y="3127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Experiment</a:t>
            </a:r>
            <a:endParaRPr lang="en-US" sz="1850" dirty="0"/>
          </a:p>
        </p:txBody>
      </p:sp>
      <p:sp>
        <p:nvSpPr>
          <p:cNvPr id="36" name="Text 26"/>
          <p:cNvSpPr/>
          <p:nvPr/>
        </p:nvSpPr>
        <p:spPr>
          <a:xfrm>
            <a:off x="8458200" y="362102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with the evaluation–repair loop: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8458200" y="4389120"/>
            <a:ext cx="1325880" cy="548640"/>
          </a:xfrm>
          <a:prstGeom prst="roundRect">
            <a:avLst>
              <a:gd name="adj" fmla="val 50000"/>
            </a:avLst>
          </a:prstGeom>
          <a:solidFill>
            <a:srgbClr val="33405E"/>
          </a:solidFill>
          <a:ln/>
        </p:spPr>
      </p:sp>
      <p:sp>
        <p:nvSpPr>
          <p:cNvPr id="38" name="Text 28"/>
          <p:cNvSpPr/>
          <p:nvPr/>
        </p:nvSpPr>
        <p:spPr>
          <a:xfrm>
            <a:off x="8458200" y="43891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9802368" y="438912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10149840" y="4389120"/>
            <a:ext cx="118872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1" name="Text 31"/>
          <p:cNvSpPr/>
          <p:nvPr/>
        </p:nvSpPr>
        <p:spPr>
          <a:xfrm>
            <a:off x="10149840" y="4389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8458200" y="510235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generation vs auto-detect + repair, then compare.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Honest Boundaries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762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168" y="234744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87121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Pose–identity trade-off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8992" y="32735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pose conditioning can distort identity; the system manages but does not fully eliminate this tension.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526280" y="192024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82312" y="21762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488" y="2347448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2312" y="287121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Metric-bound evaluation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82312" y="32735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scores (embeddings, keypoints) approximate human judgement and may miss subtle or subjective failures.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1762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808" y="2347448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87121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Reference-quality dependence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85632" y="32735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structure quality depends on clear, well-shot reference material; noisy references degrade analysis.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822960" y="4050792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78992" y="430682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68" y="4478000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5001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Constrained motion scope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78992" y="5404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short, simple, beat-driven motion — not complex choreography or long-form narrative.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526280" y="4050792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82312" y="430682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488" y="4478000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82312" y="5001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popularity guarantee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82312" y="5404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targets controllability and consistency, not engagement or commercial performance.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229600" y="4050792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30682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808" y="4478000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5001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Imperfect diagnosis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85632" y="5404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repair can misjudge mixed-cause failures; a base retry strategy is the reliable fallback.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 · SOCIAL CONTRIBUTION · 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contribution is a decision-traceable workflow that connects reference analysis, structured representation, controlled generation and repair.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A2046"/>
          </a:solidFill>
          <a:ln w="12700">
            <a:solidFill>
              <a:srgbClr val="2C356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41448"/>
            <a:ext cx="777240" cy="777240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650" y="2643530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Academic Value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33856" y="3429000"/>
            <a:ext cx="29169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controllability in generative video through reference-guided structure transfer.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structured storyboard representation between video analysis and generation.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 decision-traceable evaluation–repair loop for character-consistent generation.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36592" y="21488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A2046"/>
          </a:solidFill>
          <a:ln w="12700">
            <a:solidFill>
              <a:srgbClr val="2C356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441448"/>
            <a:ext cx="777240" cy="777240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282" y="2643530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25312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Contribution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47488" y="3429000"/>
            <a:ext cx="29169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accessible AI-assisted production for independent creators and small teams.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generative video from prompt trial-and-error towards controllable workflows.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AI as a structured production assistant, not an autonomous copier.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650224" y="21488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A2046"/>
          </a:solidFill>
          <a:ln w="12700">
            <a:solidFill>
              <a:srgbClr val="2C356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42832" y="2441448"/>
            <a:ext cx="777240" cy="777240"/>
          </a:xfrm>
          <a:prstGeom prst="ellipse">
            <a:avLst/>
          </a:prstGeom>
          <a:solidFill>
            <a:srgbClr val="0E123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914" y="2643530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38944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Ethics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961120" y="3429000"/>
            <a:ext cx="29169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authorised, self-created or royalty-free reference materials.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formal structure rather than reproducing protected content.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use original IP, new prompts and royalty-free or original audio.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Timeline (≈ 5 Weeks)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tight schedule — front-loaded with the biggest technical risk.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371600" y="2240280"/>
            <a:ext cx="0" cy="4151376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2450592"/>
            <a:ext cx="292608" cy="292608"/>
          </a:xfrm>
          <a:prstGeom prst="ellipse">
            <a:avLst/>
          </a:prstGeom>
          <a:solidFill>
            <a:srgbClr val="FBBF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Wk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2240280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0E123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331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Feasibility (Phase 0)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286000" y="26243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pose control + character identity. Decide full-motion vs keyframe path.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0" y="2478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/ CORE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25296" y="3310128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9981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Wk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0" y="3099816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19125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Analysis → storyboard JSON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286000" y="34838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reference analysis and the structured intermediate representation.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225296" y="4169664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5935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Wk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3959352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0507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IP-conditioned generation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286000" y="43434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shots from the storyboard with the fixed character.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225296" y="5029200"/>
            <a:ext cx="292608" cy="292608"/>
          </a:xfrm>
          <a:prstGeom prst="ellipse">
            <a:avLst/>
          </a:prstGeom>
          <a:solidFill>
            <a:srgbClr val="FBBF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1888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Wk 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0" y="4818888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0E1230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9103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&amp; repair loop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286000" y="52029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scoring, decision log and the regenerate-on-fail loop.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26880" y="5056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/ CORE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225296" y="5888736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67842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Wk 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11680" y="5678424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57698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Experiment &amp; write-up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2286000" y="6062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loop on/off ablation, collect results, assemble outputs.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ambitious, so scope is layered: a solid base, then stretch goals if time allows.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74920" cy="27432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4688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20" y="265432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4871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Base objectives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8712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DELIVER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33856" y="3291840"/>
            <a:ext cx="4471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evaluation–repair loop (generate → score → regenerate failed shots).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storyboard JSON as the intermediate representation.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framing scoring with a decision log.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2194560"/>
            <a:ext cx="5074920" cy="2743200"/>
          </a:xfrm>
          <a:prstGeom prst="roundRect">
            <a:avLst>
              <a:gd name="adj" fmla="val 3000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468880"/>
            <a:ext cx="713232" cy="713232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20" y="2654320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4871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Stretch goals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452360" y="28712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ALLOWS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620256" y="3291840"/>
            <a:ext cx="4471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Diagnosis-based repair (classify failure → targeted fix).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reference analysis (beats, pose, cuts).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 and a short demo video.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5212080"/>
            <a:ext cx="105613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0" y="5349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pipeline + code   · 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JSON + decision logs   · 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(loop on/off)   · 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short video(s)   · 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report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EVALUATION WORKS &amp; WHAT COMES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Method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WILL EVALUATE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shot set with the loop OFF (one-shot) and ON (auto-repair).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shot: identity (face embedding), pose (keypoints), framing, beat error.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attempt in the decision log: score → diagnosis → action → result.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617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OFF vs ON: consistency scores and number of manual interventions.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074920" cy="4023360"/>
          </a:xfrm>
          <a:prstGeom prst="roundRect">
            <a:avLst>
              <a:gd name="adj" fmla="val 2045"/>
            </a:avLst>
          </a:prstGeom>
          <a:solidFill>
            <a:srgbClr val="0E1230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2194560"/>
            <a:ext cx="777240" cy="777240"/>
          </a:xfrm>
          <a:prstGeom prst="ellipse">
            <a:avLst/>
          </a:prstGeom>
          <a:solidFill>
            <a:srgbClr val="1A204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5762" y="2396642"/>
            <a:ext cx="373075" cy="37307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680960" y="2304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583680" y="30632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and more complex motion beyond short, simple clips.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diagnosis that handles mixed-cause failures.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Multi-character scenes and interaction.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study comparing the workflow with manual production.</a:t>
            </a:r>
            <a:endParaRPr lang="en-US" sz="12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DB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integration into existing creative tools.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Agentic Workflow for Reference-Guided Character-Consistent Short-Form Video Generation</dc:title>
  <dc:subject>PptxGenJS Presentation</dc:subject>
  <dc:creator>Skye Chiu</dc:creator>
  <cp:lastModifiedBy>Skye Chiu</cp:lastModifiedBy>
  <cp:revision>1</cp:revision>
  <dcterms:created xsi:type="dcterms:W3CDTF">2026-06-25T09:31:39Z</dcterms:created>
  <dcterms:modified xsi:type="dcterms:W3CDTF">2026-06-25T09:31:39Z</dcterms:modified>
</cp:coreProperties>
</file>